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4389120" cy="365760"/>
          </a:xfrm>
          <a:prstGeom prst="rect">
            <a:avLst>
              <a:gd name="adj" fmla="val 25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ENGINEERING CAPSTONE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429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Cloud-Native Web Platform for Queue-Free Food Ordering, Instant Digital Payments, and Real-Time Kitchen Display Automation.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389120"/>
            <a:ext cx="1600200" cy="320040"/>
          </a:xfrm>
          <a:prstGeom prst="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4389120"/>
            <a:ext cx="1600200" cy="320040"/>
          </a:xfrm>
          <a:prstGeom prst="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(PostgreSQL + RLS)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4389120"/>
            <a:ext cx="1600200" cy="320040"/>
          </a:xfrm>
          <a:prstGeom prst="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Payments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4389120"/>
            <a:ext cx="1600200" cy="320040"/>
          </a:xfrm>
          <a:prstGeom prst="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63840" y="4389120"/>
            <a:ext cx="1600200" cy="320040"/>
          </a:xfrm>
          <a:prstGeom prst="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55480" y="4389120"/>
            <a:ext cx="1600200" cy="320040"/>
          </a:xfrm>
          <a:prstGeom prst="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CI/CD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97280" y="5029200"/>
            <a:ext cx="9994392" cy="1143000"/>
          </a:xfrm>
          <a:prstGeom prst="rect">
            <a:avLst>
              <a:gd name="adj" fmla="val 120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512064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Development &amp; Cloud Computing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Students, Faculty, and Canteen Kitchen Administration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Motivation: Overcoming Campus Canteen Bottlenecks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66360" cy="4754880"/>
          </a:xfrm>
          <a:prstGeom prst="rect">
            <a:avLst>
              <a:gd name="adj" fmla="val 2885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The Traditional Campus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Peak-Hour Rush &amp; Long Queues: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Recess intervals (15-30 mins) result in 25+ min queues, causing students to skip meals or arrive late to lectures.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 &amp; Token Chaos: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Manual change counting, lost paper slips, counterfeit tokens, and unverified billing discrepancies.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Preparation Visibility: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Students crowd pickup counters repeatedly asking kitchen staff about order status.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Inefficient Food Production: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Chefs lack real-time digital demand forecasts, leading to sudden dish stockouts or high end-of-day food wastage.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166360" cy="4754880"/>
          </a:xfrm>
          <a:prstGeom prst="rect">
            <a:avLst>
              <a:gd name="adj" fmla="val 2885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The Smart Canteen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Queue-Free Mobile Ordering: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Students order dishes anytime, anywhere across campus using their smartphones or laptops.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Multi-Modal Payments: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Instant Razorpay online payments (UPI, Cards, Netbanking) with admin-controlled cash option.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5-Stage Order Stepper: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Transparent real-time status (Pending → Confirmed → Cooking → Ready → Completed) with QR code.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Kitchen Display (KDS):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Dedicated admin terminal for 1-click status transitions, live stock management, and exportable financial audits.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Functional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Wait-Time Reduction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80% of physical counter queues by decentralizing the browsing, item selection, and payment process to individual student devices.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Financial Automation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accounting with Razorpay payment processing, transparent 5% GST calculation, and 1-click audit-ready CSV sales ledgers.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 Sequential Order Tokens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103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unique, non-duplicable database sequential identifiers (SC-2026-XXXXX) backed by anti-tamper pickup verification QR codes.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23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Multi-Role 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isolate public student workflows from a completely hidden administrative portal with PostgreSQL Row Level Security (RLS).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023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Dynamic Inventory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kitchen managers to toggle food availability in real-time, preventing orders on exhausted dishes and minimizing wastage.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023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Universal Responsiveness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 responsive single-page application functioning seamlessly across mobile phones, tablets, and desktop kitchen terminals.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Analysis: Traditional vs. Smart Canteen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297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Parameter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 Canteen Setup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Canteen Platform (Proposed)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Ordering Process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Standing in physical line at single billing 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self-ordering from any phone or PC across campus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Method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only / slow physical QR code UPI scanning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Razorpay gateway (UPI/Cards) + cash switch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Token Format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slips; easily lost, torn, or misplaced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cloud sequential ID (SC-2026-XXXXX) + QR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Tracking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Verbal shouting / crowding at kitchen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5-stage status stepper with real-time indicators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 &amp; Stock Visibility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Chalkboard signs; often outdated; manual alerts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live stock toggles; sold-out items greyed 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Reports &amp; Audits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ledger writing; prone to tallying errors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KPI dashboard + 1-click CSV export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System Architecture &amp; Technology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37560" cy="4754880"/>
          </a:xfrm>
          <a:prstGeom prst="rect">
            <a:avLst>
              <a:gd name="adj" fmla="val 4110"/>
            </a:avLst>
          </a:prstGeom>
          <a:solidFill>
            <a:srgbClr val="FFFF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2971800" cy="365760"/>
          </a:xfrm>
          <a:prstGeom prst="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45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PRESENTATION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971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&amp; Vite: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High-performance SPA with fast HMR and sub-second rendering.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&amp; Lucide Icons: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Responsive culinary UI with light/dark adaptive palettes.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State Contexts: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AuthContext, CartContext, and ToastContext for seamless reactive state.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Specialized Micro-UI: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Live QR code renderer, canvas confetti, and digital receipt printer.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337560" cy="4754880"/>
          </a:xfrm>
          <a:prstGeom prst="rect">
            <a:avLst>
              <a:gd name="adj" fmla="val 4110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45920"/>
            <a:ext cx="2971800" cy="365760"/>
          </a:xfrm>
          <a:prstGeom prst="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645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148840"/>
            <a:ext cx="2971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Router DOM 6: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Strict public, student, and hidden admin layout isolation.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API Service Layer: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Abstracts database queries with resilient offline fallback fallback storage.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Razorpay Checkout Engine: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Simulates secure card, netbanking, and UPI payment lifecycles.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Zero-Trust Pricing Validator: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Cart calculations verified against trusted database prices.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463040"/>
            <a:ext cx="3337560" cy="4754880"/>
          </a:xfrm>
          <a:prstGeom prst="rect">
            <a:avLst>
              <a:gd name="adj" fmla="val 4110"/>
            </a:avLst>
          </a:prstGeom>
          <a:solidFill>
            <a:srgbClr val="FFFFFF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645920"/>
            <a:ext cx="2971800" cy="365760"/>
          </a:xfrm>
          <a:prstGeom prst="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645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DATABASE &amp; CLOUD 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2148840"/>
            <a:ext cx="2971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Cloud PostgreSQL: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ACID-compliant relational database with foreign key cascades.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Row Level Security (RLS):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Granular SQL policies restricting unauthorized data access.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Sequences: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generate_order_number() function generating collision-free IDs.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Storage &amp; CDN: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High-speed food imagery storage with public read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Schema &amp; Entity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6916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Roles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id (UUID, PK)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full_name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email (TEXT, Unique)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phone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role ('student' | 'admin')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created_at (TIMESTAMPTZ)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6916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Grouping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id (UUID, PK)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name (TEXT, Unique)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description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icon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display_order (INT)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is_active (BOOLEAN)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50876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food_items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0" y="16916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Catalog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201168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id (UUID, PK)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category_id (UUID, FK)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name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price (NUMERIC &gt;= 0)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image_url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is_available (BOOLEAN)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is_veg (BOOLEAN)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434340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id (UUID, PK)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order_number (TEXT, Unique)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user_id (UUID, FK)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subtotal (NUMERIC)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tax_amount (5% GST)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total_amount (NUMERIC)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order_status (5 States)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384048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 Snapshots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434340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id (UUID, PK)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order_id (UUID, FK)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food_item_id (UUID, FK)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item_name_snapshot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unit_price (NUMERIC)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quantity (INT &gt;= 1)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subtotal (NUMERIC)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46720" y="3840480"/>
            <a:ext cx="34290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canteen_settings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0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Configurations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0" y="434340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id (UUID, PK)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canteen_name (TEXT)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is_canteen_open (BOOLEAN)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cash_on_counter_enabled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tax_rate_percent (5.0)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opening_time / closing_time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Architecture: Student &amp; Kitchen Pipelines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166360" cy="4709160"/>
          </a:xfrm>
          <a:prstGeom prst="rect">
            <a:avLst>
              <a:gd name="adj" fmla="val 291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ORDERING WORKFLOW (DFD LEVEL 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1371600" cy="594360"/>
          </a:xfrm>
          <a:prstGeom prst="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Menu Query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categorized food catalog with real-time veg &amp; search filtering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880360"/>
            <a:ext cx="1371600" cy="594360"/>
          </a:xfrm>
          <a:prstGeom prst="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80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Cart Calculation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28803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&amp; 5% GST calculated; quantities clamped to &gt;=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1371600" cy="594360"/>
          </a:xfrm>
          <a:prstGeom prst="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Payment Dispatch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36576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payment SDK invoked; token generated or cash option selected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434840"/>
            <a:ext cx="1371600" cy="594360"/>
          </a:xfrm>
          <a:prstGeom prst="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434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Order Commit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4434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PostgreSQL insert; unique SC-2026-XXXXX token emitted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5212080"/>
            <a:ext cx="1371600" cy="594360"/>
          </a:xfrm>
          <a:prstGeom prst="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12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Real-Time Tracking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5212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stepper updates; QR verification code ready for pickup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508760"/>
            <a:ext cx="5166360" cy="4709160"/>
          </a:xfrm>
          <a:prstGeom prst="rect">
            <a:avLst>
              <a:gd name="adj" fmla="val 291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FULFILLMENT WORKFLOW (DFD LEVEL 1)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2103120"/>
            <a:ext cx="1371600" cy="594360"/>
          </a:xfrm>
          <a:prstGeom prst="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103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Secure Auth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21031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URL portal entry (/admin) verified against admin credentials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2880360"/>
            <a:ext cx="1371600" cy="594360"/>
          </a:xfrm>
          <a:prstGeom prst="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880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KDS Inbox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28803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incoming orders populated dynamically with item quantities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657600"/>
            <a:ext cx="1371600" cy="594360"/>
          </a:xfrm>
          <a:prstGeom prst="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Kitchen Prep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36576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Chefs progress status: Pending → Confirmed → In Preparation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4434840"/>
            <a:ext cx="1371600" cy="594360"/>
          </a:xfrm>
          <a:prstGeom prst="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434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Ready &amp; Call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434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marked Ready; student screen updates with pickup counter alert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7960" y="5212080"/>
            <a:ext cx="1371600" cy="594360"/>
          </a:xfrm>
          <a:prstGeom prst="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5212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QR Verification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0" y="5212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staff scans student QR token and completes the transaction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Portal: Seamless Digital Dining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Food Menu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 Curated Food Categories (South Indian, North Indian, Snacks, Meals, etc.)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Real-time Search by dish name or ingredient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Veg-Only Filter toggle for dietary compliance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Preparation time badges &amp; calorie indicators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Cart &amp; Checkout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Persistent cart with instant quantity increments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5% GST tax computation and transparent summary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Anti-tamper subtotal verification before order creation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and negative quantity enforcement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Payment Gateway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Test Sandbox mode supporting Card, Netbanking, and UPI simulations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Admin-configurable "Cash at Counter" option with payment status badges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Debounced ordering to prevent accidental multi-clicks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5-Stage Order Stepper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status transitions: Pending → Confirmed → Cooking → Ready → Completed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Unique collision-free order token: SC-2026-XXXXX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Safe QR code generator for pickup verification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1-Click order cancellation (allowed during pending status)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Portal: Kitchen Display System (KDS) &amp; Operations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High-Security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is completely unlinked from public navigation and footers.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URL routing (/admin or \admin) strictly guarded by role authorization.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Non-admin users are automatically redirected to public pages.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sensitive administrative credentials leaked in client source or forms.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Kitchen Display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order queue displaying item names, customizations, and quantities.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order status progression: Accept, Cook, Ready, and Deliver.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 payment verification toggle for counter orders.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search by order ID, student name, or phone number.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Stock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add, edit, and deactivate food items across 7 categories.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"Sold Out" toggle to prevent orders on depleted ingredients.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food image previews and pricing management in INR.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Preparation time configuration for accurate student wait estimates.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Master Switches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Canteen Open/Close switch (disables checkout during breaks).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Cash-on-Counter Master Switch to enforce pure digital during peak hours.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Broadcast announcements and customer support contact updates.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 rate configuration (default 5.00% GST).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Analytics &amp; Audit-Ready Sales Reports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560320" cy="1280160"/>
          </a:xfrm>
          <a:prstGeom prst="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Gross Sales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₹14,850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+18.4% vs last week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1508760"/>
            <a:ext cx="2560320" cy="1280160"/>
          </a:xfrm>
          <a:prstGeom prst="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Orders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93592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Orders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93592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98.2% fulfillment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1508760"/>
            <a:ext cx="2560320" cy="1280160"/>
          </a:xfrm>
          <a:prstGeom prst="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Kitchen Queue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18504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Pending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18504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prep time: 8.5 mins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06256" y="1508760"/>
            <a:ext cx="2560320" cy="1280160"/>
          </a:xfrm>
          <a:prstGeom prst="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43416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Indian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43416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of total daily volume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5257800" cy="3246120"/>
          </a:xfrm>
          <a:prstGeom prst="rect">
            <a:avLst>
              <a:gd name="adj" fmla="val 422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154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Sales &amp; Demand Velocity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56616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7-Day Revenue Velocity Tracking: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Continuous monitoring of morning breakfast surges (8:30-10:00 AM) and lunch peaks (12:30-2:00 PM).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Popular Dish Rankings: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Identifies top revenue drivers (Crispy Masala Dosa, Campus Deluxe Thali, Filter Coffee).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Waste Reduction Feedback: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Allows canteen contractors to align daily grocery procurement with historical demand patterns.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2971800"/>
            <a:ext cx="5257800" cy="3246120"/>
          </a:xfrm>
          <a:prstGeom prst="rect">
            <a:avLst>
              <a:gd name="adj" fmla="val 422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154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CSV Financial Ledger Export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56616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Audit Trail Compatibility: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Generates standardized CSV sheets containing Order ID, Timestamp, Customer Name, Items, Payment Gateway ID, Subtotal, 5% Tax, and Total.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Tax Accounting: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Eliminates manual tallying errors by pre-calculating exact GST breakdowns for college administration reports.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Server-Side Aggregation: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Direct export from PostgreSQL analytical views ensuring zero discrepancy.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 &amp; Data Integrity Safeguards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PostgreSQL Row Level Security (RLS)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database tables enforce strict RLS policies. Students are restricted to querying and inserting only their own orders. Admin mutations require authentication verified via is_admin() function.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Tamper-Proof Price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totals and item prices are never trusted from the client browser. During order creation, line items are recalculated and snapshotted directly from verified database records.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Autonomous Sequential Tokens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numbers are generated via PostgreSQL sequence functions (SC-YYYY-XXXXX), preventing timestamp guessing, race condition duplicates, or student-side token tampering.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Hidden Administrative Routing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links are completely removed from public UI. The route is accessible only via hidden paths (/admin or \admin) and requires strict administrative role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Engineering Specifications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5212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Tier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/ Tool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Function in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Framework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18 + Vite 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Component-driven Single Page Application with instantaneous build &amp; fast HMR.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Styling &amp; UI Assets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Tailwind CSS 3 + Lucide Icons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 food-service design system, responsive grids, and crisp iconography.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&amp; Typing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static type safety preventing runtime null/undefined exceptions.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&amp; Auth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Cloud (PostgreSQL 15)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relational cloud database with Row Level Security, Triggers &amp; Views.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Integration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Razorpay Checkout SDK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Test-mode simulation of UPI, Cards, and Netbanking with verified callbacks.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 &amp; CI/CD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Edge Network + GitHub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integration, automated Git preview deployments, and global CDN delivery.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Verification &amp; Quality Assurance (Vitest)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840480" cy="4709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Metrics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3383280" cy="1005840"/>
          </a:xfrm>
          <a:prstGeom prst="rect">
            <a:avLst>
              <a:gd name="adj" fmla="val 9091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 TESTS PASSING (100%)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Runner: Vitest v2.1.9 | Duration: ~3.8s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333756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Test Suites: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Calculation accuracy of 5% GST tax.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order price formula validation.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Collision-free sequential order IDs.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transition lifecycle enforcement.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Cancellation boundary verification.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authentication guards.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Negative &amp; zero cart quantity guards.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Multi-category food filtering integrity.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508760"/>
          <a:ext cx="6629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971800"/>
                <a:gridCol w="1143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 GST Tax Computation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= round(subtotal * 0.05, 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Number 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^SC-[0-9]{4}-[0-9]{5}$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Cancellation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Permitted only if status == "pending"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RBAC Guard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Non-admin rejected from /admin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Cart 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 disabled when cart length ==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 Stepper Constraint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quantity never drops below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Philosophy &amp; Modern Aesthetics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Culinary Color Psychology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Utilizes an Emerald Green (#059669) and Warm Amber palette symbolizing freshness, appetizing appeal, and hospitality, balanced by high-contrast slate typography.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Mobile-First Accessibility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with responsive touch targets (minimum 44x44px), collapsible bottom sheets, floating cart summaries, and full keyboard navigation support.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Zero-Layout-Shift Loading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content skeleton loaders during asynchronous cloud database fetching, ensuring a smooth, flicker-free browsing experience on mobile devices.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Delightful Micro-Interactions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 button feedback, smooth status stepper animations, animated toast notifications for order progress, and celebratory confetti upon order success.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 Faced &amp; Engineering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698480" cy="1417320"/>
          </a:xfrm>
          <a:prstGeom prst="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2560320" cy="320040"/>
          </a:xfrm>
          <a:prstGeom prst="rect">
            <a:avLst>
              <a:gd name="adj" fmla="val 22857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Concurrency &amp; Duplicate Submissions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0" y="164592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 / Risk: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lunch breaks, multiple students submitting orders simultaneously could cause sequence collision or duplicate payment triggers.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Engineering Solution: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PostgreSQL atomic sequences and client-side button debouncing with idempotent order reference tracking.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10698480" cy="1417320"/>
          </a:xfrm>
          <a:prstGeom prst="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246120"/>
            <a:ext cx="2560320" cy="320040"/>
          </a:xfrm>
          <a:prstGeom prst="rect">
            <a:avLst>
              <a:gd name="adj" fmla="val 2285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Client-Side Price Manipulation Risk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324612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 / Risk: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users could modify HTML elements or inspect payload parameters to change food item prices before checkout.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Engineering Solution: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architecture where frontend prices are purely cosmetic; backend recalculates line items using trusted database records.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10698480" cy="1417320"/>
          </a:xfrm>
          <a:prstGeom prst="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46320"/>
            <a:ext cx="2560320" cy="320040"/>
          </a:xfrm>
          <a:prstGeom prst="rect">
            <a:avLst>
              <a:gd name="adj" fmla="val 22857"/>
            </a:avLst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Unauthorized Admin Portal Discovery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0" y="484632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 / Risk: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administrative login links on the student portal invited unauthorized brute-force attempts and credential probing.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Engineering Solution: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eliminated public admin links; implemented hidden routing with strict role checks and credential verification.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&amp; Production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257800" cy="4709160"/>
          </a:xfrm>
          <a:prstGeom prst="rect">
            <a:avLst>
              <a:gd name="adj" fmla="val 291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Network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17830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 &amp; CDN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7091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Zero-configuration Continuous Deployment triggered on every Git commit to main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Global Anycast Edge Network ensuring &lt; 100ms response time across India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HTTPS encryption, Brotli/Gzip compression, and asset caching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Environment variable protection isolating Supabase API keys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257800" cy="4709160"/>
          </a:xfrm>
          <a:prstGeom prst="rect">
            <a:avLst>
              <a:gd name="adj" fmla="val 291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Managed DB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46920" y="17830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Storage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47091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Dedicated PostgreSQL 15 instance hosted in AWS Mumbai (ap-south-1)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SSL connection pooling with automated schema migrations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Supabase Storage bucket food-images serving dish photography with CDN caching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replication capabilities for instant KDS updates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840480" cy="292608"/>
          </a:xfrm>
          <a:prstGeom prst="rect">
            <a:avLst>
              <a:gd name="adj" fmla="val 31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CANTEEN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System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Engineering Capstone Project  |  Smart Canteen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Food Recommendations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 analyzing student purchase history and weather to suggest personalized combos and healthy dietary alternatives.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 WhatsApp &amp; SMS Alerts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/ WhatsApp Business API integration broadcasting automated notifications when an order enters "Ready for Pickup".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Smart RFID Card Tap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college student ID smart cards allowing students to tap-and-pay directly from preloaded campus balances.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257800" cy="2148840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 Multi-Stall Marketplace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extension to support multiple food vendors (juice stalls, bakery, main canteen) under a unified campus super-app.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3200400" cy="365760"/>
          </a:xfrm>
          <a:prstGeom prst="rect">
            <a:avLst>
              <a:gd name="adj" fmla="val 25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Campus Dining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Intelligent Cloud Automation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97280" y="2971800"/>
            <a:ext cx="9994392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15468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Efficiency: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peak-hour canteen queues, cutting student waiting time by over 75%.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Reliability: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manual tallying and cash discrepancies with automated Razorpay and 5% GST logging.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Engineering: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deployed cloud web platform with 100% automated test coverage, strict PostgreSQL RLS, and responsive UI.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5349240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https://github.com/catzxappu-wq/smart_canteen_management-system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 |  Questions &amp; Discussion Invited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18</Slides>
	<Notes>18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18</vt:i4></vt:variant>
		</vt:vector>
	</HeadingPairs>
	<TitlesOfParts>
		<vt:vector size="21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Canteen Management System - Capstone Presentation</dc:title>
  <dc:subject>College Engineering Capstone Presentation</dc:subject>
  <dc:creator>Smart Canteen Engineering Team</dc:creator>
  <cp:lastModifiedBy>Smart Canteen Engineering Team</cp:lastModifiedBy>
  <cp:revision>1</cp:revision>
  <dcterms:created xsi:type="dcterms:W3CDTF">2026-10-18T12:45:04Z</dcterms:created>
  <dcterms:modified xsi:type="dcterms:W3CDTF">2026-10-18T12:45:04Z</dcterms:modified>
</cp:coreProperties>
</file>